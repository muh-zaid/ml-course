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Average"/>
      <p:regular r:id="rId11"/>
    </p:embeddedFont>
    <p:embeddedFont>
      <p:font typeface="Oswald" pitchFamily="2" charset="77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49" d="100"/>
          <a:sy n="149" d="100"/>
        </p:scale>
        <p:origin x="7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80f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80f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980f9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980f9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Sharpe Ratio = Excess Return / Volatility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80f9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80f9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a88308a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ba88308a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980f9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980f9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b978c97dd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b978c97dd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Neural Network for Portfolio Optimization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671250" y="3174875"/>
            <a:ext cx="78015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Project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Muhammad Zaid Maqsood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May 2, 2026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66200" y="1161525"/>
            <a:ext cx="846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project builds an end-to-end ML framework that directly learns portfolio weights from market data, improving risk-adjusted performance and allocation stability over traditional approaches in Finance.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5407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Objective</a:t>
            </a:r>
            <a:endParaRPr/>
          </a:p>
        </p:txBody>
      </p:sp>
      <p:grpSp>
        <p:nvGrpSpPr>
          <p:cNvPr id="71" name="Google Shape;71;p15"/>
          <p:cNvGrpSpPr/>
          <p:nvPr/>
        </p:nvGrpSpPr>
        <p:grpSpPr>
          <a:xfrm>
            <a:off x="323276" y="1304875"/>
            <a:ext cx="2785872" cy="3416400"/>
            <a:chOff x="431925" y="1304875"/>
            <a:chExt cx="2628925" cy="3416400"/>
          </a:xfrm>
        </p:grpSpPr>
        <p:sp>
          <p:nvSpPr>
            <p:cNvPr id="72" name="Google Shape;72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15"/>
          <p:cNvSpPr txBox="1">
            <a:spLocks noGrp="1"/>
          </p:cNvSpPr>
          <p:nvPr>
            <p:ph type="body" idx="4294967295"/>
          </p:nvPr>
        </p:nvSpPr>
        <p:spPr>
          <a:xfrm>
            <a:off x="323283" y="1304875"/>
            <a:ext cx="2785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chemeClr val="lt1"/>
                </a:solidFill>
              </a:rPr>
              <a:t>Problem with Traditional Approaches</a:t>
            </a:r>
            <a:endParaRPr sz="1250" b="1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4294967295"/>
          </p:nvPr>
        </p:nvSpPr>
        <p:spPr>
          <a:xfrm>
            <a:off x="404250" y="2044375"/>
            <a:ext cx="26268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Return prediction is noisy</a:t>
            </a:r>
            <a:endParaRPr sz="1400"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Two-step models (predict returns &amp; then optimize weight) amplify errors</a:t>
            </a:r>
            <a:endParaRPr sz="1400"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Fail to capture non-linear and temporal dynamics</a:t>
            </a:r>
            <a:endParaRPr sz="1400"/>
          </a:p>
        </p:txBody>
      </p:sp>
      <p:grpSp>
        <p:nvGrpSpPr>
          <p:cNvPr id="76" name="Google Shape;76;p15"/>
          <p:cNvGrpSpPr/>
          <p:nvPr/>
        </p:nvGrpSpPr>
        <p:grpSpPr>
          <a:xfrm>
            <a:off x="3194123" y="1304875"/>
            <a:ext cx="2789660" cy="3416400"/>
            <a:chOff x="3320450" y="1304875"/>
            <a:chExt cx="2632500" cy="3416400"/>
          </a:xfrm>
        </p:grpSpPr>
        <p:sp>
          <p:nvSpPr>
            <p:cNvPr id="77" name="Google Shape;77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5"/>
          <p:cNvSpPr txBox="1">
            <a:spLocks noGrp="1"/>
          </p:cNvSpPr>
          <p:nvPr>
            <p:ph type="body" idx="4294967295"/>
          </p:nvPr>
        </p:nvSpPr>
        <p:spPr>
          <a:xfrm>
            <a:off x="3194125" y="1304875"/>
            <a:ext cx="2785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Objective</a:t>
            </a:r>
            <a:endParaRPr sz="1300" b="1">
              <a:solidFill>
                <a:schemeClr val="lt1"/>
              </a:solidFill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6059705" y="1304875"/>
            <a:ext cx="2789660" cy="3416400"/>
            <a:chOff x="6212550" y="1304875"/>
            <a:chExt cx="2632500" cy="3416400"/>
          </a:xfrm>
        </p:grpSpPr>
        <p:sp>
          <p:nvSpPr>
            <p:cNvPr id="81" name="Google Shape;81;p15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83;p15"/>
          <p:cNvSpPr txBox="1">
            <a:spLocks noGrp="1"/>
          </p:cNvSpPr>
          <p:nvPr>
            <p:ph type="body" idx="4294967295"/>
          </p:nvPr>
        </p:nvSpPr>
        <p:spPr>
          <a:xfrm>
            <a:off x="6059700" y="1304875"/>
            <a:ext cx="27858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1"/>
                </a:solidFill>
              </a:rPr>
              <a:t>Research Question</a:t>
            </a:r>
            <a:endParaRPr sz="1300" b="1">
              <a:solidFill>
                <a:schemeClr val="lt1"/>
              </a:solidFill>
            </a:endParaRPr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4294967295"/>
          </p:nvPr>
        </p:nvSpPr>
        <p:spPr>
          <a:xfrm>
            <a:off x="3275572" y="2044375"/>
            <a:ext cx="26268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Learn portfolio weights directly from data</a:t>
            </a:r>
            <a:endParaRPr sz="1400"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Optimize at portfolio level by maximizing return, controlling risk and ensuring allocation stability (low turnover)</a:t>
            </a:r>
            <a:endParaRPr sz="1400"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4294967295"/>
          </p:nvPr>
        </p:nvSpPr>
        <p:spPr>
          <a:xfrm>
            <a:off x="6137824" y="2044375"/>
            <a:ext cx="26268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 end-to-end ML deliver better risk-adjusted performance than Mean-Variance?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75650" y="17166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&amp; Evaluation Metrics</a:t>
            </a:r>
            <a:endParaRPr sz="3000"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2"/>
          </p:nvPr>
        </p:nvSpPr>
        <p:spPr>
          <a:xfrm>
            <a:off x="4963325" y="512250"/>
            <a:ext cx="3837000" cy="41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Data</a:t>
            </a:r>
            <a:endParaRPr sz="1400" b="1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10 years of daily ETFs (Exchange-Traded Fund) data via </a:t>
            </a:r>
            <a:r>
              <a:rPr lang="en" sz="1300" dirty="0" err="1"/>
              <a:t>yfinance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Diversified assets:</a:t>
            </a:r>
            <a:r>
              <a:rPr lang="en" sz="1300" dirty="0"/>
              <a:t> Equities, International markets, Bonds, Commodities, Real estate, Energy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Engineered features and Model Inputs:</a:t>
            </a:r>
            <a:r>
              <a:rPr lang="en" sz="1300" dirty="0"/>
              <a:t> Daily returns, Lagged returns, Volatility, Moving averages, Momentum</a:t>
            </a: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Evaluation Metrics</a:t>
            </a:r>
            <a:endParaRPr sz="1400" b="1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Return: </a:t>
            </a:r>
            <a:r>
              <a:rPr lang="en" sz="1300" dirty="0"/>
              <a:t>Annualized return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Risk:</a:t>
            </a:r>
            <a:r>
              <a:rPr lang="en" sz="1300" dirty="0"/>
              <a:t> Volatility, Maximum Drawdown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Risk-adjusted:</a:t>
            </a:r>
            <a:r>
              <a:rPr lang="en" sz="1300" dirty="0"/>
              <a:t> Sharpe ratio, Calmar Ratio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Stability: </a:t>
            </a:r>
            <a:r>
              <a:rPr lang="en" sz="1300" dirty="0"/>
              <a:t>Portfolio turnover</a:t>
            </a:r>
            <a:endParaRPr sz="1300" dirty="0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Comparison: </a:t>
            </a:r>
            <a:r>
              <a:rPr lang="en" sz="1300" dirty="0"/>
              <a:t>MLP vs LSTM vs Mean-Variance benchmark</a:t>
            </a: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Loss Function</a:t>
            </a:r>
            <a:endParaRPr sz="1400" b="1" dirty="0"/>
          </a:p>
          <a:p>
            <a:pPr lvl="0" indent="-311150">
              <a:lnSpc>
                <a:spcPct val="100000"/>
              </a:lnSpc>
              <a:buSzPts val="1300"/>
            </a:pPr>
            <a:r>
              <a:rPr lang="en" sz="1050" dirty="0"/>
              <a:t>Loss = - </a:t>
            </a:r>
            <a:r>
              <a:rPr lang="en" sz="1050" dirty="0" err="1"/>
              <a:t>Sharpe_Ratio</a:t>
            </a:r>
            <a:r>
              <a:rPr lang="en" sz="1050" baseline="30000" dirty="0"/>
              <a:t>*</a:t>
            </a:r>
            <a:r>
              <a:rPr lang="en" sz="1050" dirty="0"/>
              <a:t> + λ1xTurnover + λ2xDrawdown</a:t>
            </a:r>
            <a:endParaRPr sz="1050" dirty="0"/>
          </a:p>
        </p:txBody>
      </p:sp>
      <p:sp>
        <p:nvSpPr>
          <p:cNvPr id="92" name="Google Shape;92;p16"/>
          <p:cNvSpPr txBox="1"/>
          <p:nvPr/>
        </p:nvSpPr>
        <p:spPr>
          <a:xfrm>
            <a:off x="4775225" y="4849525"/>
            <a:ext cx="421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07070"/>
                </a:solidFill>
              </a:rPr>
              <a:t>* Sharpe Ratio = Excess Return / Volatility ⇒ Captures risk and return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11700" y="1879750"/>
            <a:ext cx="3999900" cy="311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Model 1: MLP (Feedforward Neural Network)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Input: </a:t>
            </a:r>
            <a:r>
              <a:rPr lang="en" sz="1600"/>
              <a:t>Engineered features (returns, volatility, momentum, lagged signals)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Output: </a:t>
            </a:r>
            <a:r>
              <a:rPr lang="en" sz="1600"/>
              <a:t>Portfolio weights across ETFs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model captures non-linear relationships across assets and does not explicitly model time dependency</a:t>
            </a:r>
            <a:endParaRPr sz="1600"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311900" y="1017725"/>
            <a:ext cx="5434800" cy="793200"/>
          </a:xfrm>
          <a:prstGeom prst="rect">
            <a:avLst/>
          </a:prstGeom>
          <a:ln w="19050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Baseline Model: </a:t>
            </a:r>
            <a:r>
              <a:rPr lang="en" sz="1500" b="1"/>
              <a:t>Mean-Variance portfolio (Markowitz)</a:t>
            </a:r>
            <a:endParaRPr sz="1500"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 b="1"/>
              <a:t>C</a:t>
            </a:r>
            <a:r>
              <a:rPr lang="en" sz="1500"/>
              <a:t>omputes optimal weights using expected returns and covariance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&amp; Approach</a:t>
            </a:r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2"/>
          </p:nvPr>
        </p:nvSpPr>
        <p:spPr>
          <a:xfrm>
            <a:off x="4832400" y="1879500"/>
            <a:ext cx="3999900" cy="311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Model 2: Long Short-Term Memory (LSTM / Sequence Model)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Input: </a:t>
            </a:r>
            <a:r>
              <a:rPr lang="en" sz="1600"/>
              <a:t>Sequential time-series features (lookback window of historical signals)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Output: </a:t>
            </a:r>
            <a:r>
              <a:rPr lang="en" sz="1600"/>
              <a:t>Portfolio weights across ETFs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This model captures temporal dependencies and market dynamics and is designed for sequential decision learning in financial data</a:t>
            </a:r>
            <a:endParaRPr sz="2100" b="1">
              <a:solidFill>
                <a:schemeClr val="dk1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75" y="999300"/>
            <a:ext cx="2868216" cy="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311700" y="92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Insights</a:t>
            </a:r>
            <a:endParaRPr/>
          </a:p>
        </p:txBody>
      </p:sp>
      <p:grpSp>
        <p:nvGrpSpPr>
          <p:cNvPr id="107" name="Google Shape;107;p18"/>
          <p:cNvGrpSpPr/>
          <p:nvPr/>
        </p:nvGrpSpPr>
        <p:grpSpPr>
          <a:xfrm>
            <a:off x="367075" y="800359"/>
            <a:ext cx="4002034" cy="512405"/>
            <a:chOff x="424813" y="1177875"/>
            <a:chExt cx="8294371" cy="849900"/>
          </a:xfrm>
        </p:grpSpPr>
        <p:sp>
          <p:nvSpPr>
            <p:cNvPr id="108" name="Google Shape;108;p18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10" name="Google Shape;110;p18"/>
          <p:cNvSpPr txBox="1">
            <a:spLocks noGrp="1"/>
          </p:cNvSpPr>
          <p:nvPr>
            <p:ph type="body" idx="4294967295"/>
          </p:nvPr>
        </p:nvSpPr>
        <p:spPr>
          <a:xfrm>
            <a:off x="422442" y="800577"/>
            <a:ext cx="1168800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4294967295"/>
          </p:nvPr>
        </p:nvSpPr>
        <p:spPr>
          <a:xfrm>
            <a:off x="1841105" y="800551"/>
            <a:ext cx="2466000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373766" lvl="0" indent="-26308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Does ML improve Sharpe ratio vs benchmark?</a:t>
            </a:r>
            <a:endParaRPr sz="1200">
              <a:solidFill>
                <a:schemeClr val="lt1"/>
              </a:solidFill>
            </a:endParaRPr>
          </a:p>
        </p:txBody>
      </p:sp>
      <p:grpSp>
        <p:nvGrpSpPr>
          <p:cNvPr id="112" name="Google Shape;112;p18"/>
          <p:cNvGrpSpPr/>
          <p:nvPr/>
        </p:nvGrpSpPr>
        <p:grpSpPr>
          <a:xfrm>
            <a:off x="4830266" y="800255"/>
            <a:ext cx="4002029" cy="512405"/>
            <a:chOff x="424813" y="2075689"/>
            <a:chExt cx="8294360" cy="849900"/>
          </a:xfrm>
        </p:grpSpPr>
        <p:sp>
          <p:nvSpPr>
            <p:cNvPr id="113" name="Google Shape;113;p18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15" name="Google Shape;115;p18"/>
          <p:cNvSpPr txBox="1">
            <a:spLocks noGrp="1"/>
          </p:cNvSpPr>
          <p:nvPr>
            <p:ph type="body" idx="4294967295"/>
          </p:nvPr>
        </p:nvSpPr>
        <p:spPr>
          <a:xfrm>
            <a:off x="4885633" y="800454"/>
            <a:ext cx="1168800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4294967295"/>
          </p:nvPr>
        </p:nvSpPr>
        <p:spPr>
          <a:xfrm>
            <a:off x="6304296" y="800463"/>
            <a:ext cx="2466000" cy="512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373766" lvl="0" indent="-26308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Which architecture performs better: MLP or LSTM?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4294967295"/>
          </p:nvPr>
        </p:nvSpPr>
        <p:spPr>
          <a:xfrm>
            <a:off x="402160" y="2652445"/>
            <a:ext cx="1168800" cy="653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3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4294967295"/>
          </p:nvPr>
        </p:nvSpPr>
        <p:spPr>
          <a:xfrm>
            <a:off x="6304300" y="2734413"/>
            <a:ext cx="2466000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373766" lvl="0" indent="-26308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How robust is performance under drawdowns?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00" y="1831700"/>
            <a:ext cx="4002025" cy="248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950" y="1831696"/>
            <a:ext cx="3946675" cy="2483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311700" y="92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Insights</a:t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369750" y="803867"/>
            <a:ext cx="3974657" cy="507920"/>
            <a:chOff x="424813" y="2974405"/>
            <a:chExt cx="8294360" cy="849933"/>
          </a:xfrm>
        </p:grpSpPr>
        <p:sp>
          <p:nvSpPr>
            <p:cNvPr id="127" name="Google Shape;127;p19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29" name="Google Shape;129;p19"/>
          <p:cNvSpPr txBox="1">
            <a:spLocks noGrp="1"/>
          </p:cNvSpPr>
          <p:nvPr>
            <p:ph type="body" idx="4294967295"/>
          </p:nvPr>
        </p:nvSpPr>
        <p:spPr>
          <a:xfrm>
            <a:off x="432093" y="724900"/>
            <a:ext cx="1160700" cy="6534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3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4294967295"/>
          </p:nvPr>
        </p:nvSpPr>
        <p:spPr>
          <a:xfrm>
            <a:off x="1833700" y="806136"/>
            <a:ext cx="2449200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373766" lvl="0" indent="-26308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Are the allocations stable and practical (low turnover)?</a:t>
            </a:r>
            <a:endParaRPr sz="1200">
              <a:solidFill>
                <a:schemeClr val="lt1"/>
              </a:solidFill>
            </a:endParaRPr>
          </a:p>
        </p:txBody>
      </p:sp>
      <p:grpSp>
        <p:nvGrpSpPr>
          <p:cNvPr id="131" name="Google Shape;131;p19"/>
          <p:cNvGrpSpPr/>
          <p:nvPr/>
        </p:nvGrpSpPr>
        <p:grpSpPr>
          <a:xfrm>
            <a:off x="4829933" y="805497"/>
            <a:ext cx="3974657" cy="507920"/>
            <a:chOff x="424813" y="3871259"/>
            <a:chExt cx="8294360" cy="849933"/>
          </a:xfrm>
        </p:grpSpPr>
        <p:sp>
          <p:nvSpPr>
            <p:cNvPr id="132" name="Google Shape;132;p19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name="adj" fmla="val 26719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74750" tIns="74750" rIns="74750" bIns="74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134" name="Google Shape;134;p19"/>
          <p:cNvSpPr txBox="1">
            <a:spLocks noGrp="1"/>
          </p:cNvSpPr>
          <p:nvPr>
            <p:ph type="body" idx="4294967295"/>
          </p:nvPr>
        </p:nvSpPr>
        <p:spPr>
          <a:xfrm>
            <a:off x="4884897" y="805371"/>
            <a:ext cx="1160700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Finding 4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4294967295"/>
          </p:nvPr>
        </p:nvSpPr>
        <p:spPr>
          <a:xfrm>
            <a:off x="6293884" y="806868"/>
            <a:ext cx="2449200" cy="507900"/>
          </a:xfrm>
          <a:prstGeom prst="rect">
            <a:avLst/>
          </a:prstGeom>
        </p:spPr>
        <p:txBody>
          <a:bodyPr spcFirstLastPara="1" wrap="square" lIns="74750" tIns="74750" rIns="74750" bIns="74750" anchor="ctr" anchorCtr="0">
            <a:noAutofit/>
          </a:bodyPr>
          <a:lstStyle/>
          <a:p>
            <a:pPr marL="373766" lvl="0" indent="-26308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How robust is performance under drawdowns?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63" y="1863775"/>
            <a:ext cx="3974663" cy="246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936" y="1863775"/>
            <a:ext cx="3974665" cy="246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1300500" y="1528300"/>
            <a:ext cx="6543000" cy="1293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This project demonstrates how end-to-end machine learning can directly learn portfolio allocations, improving risk-adjusted returns and stability compared to traditional optimization methods.</a:t>
            </a:r>
            <a:endParaRPr sz="18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11700" y="3887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Macintosh PowerPoint</Application>
  <PresentationFormat>On-screen Show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Oswald</vt:lpstr>
      <vt:lpstr>Average</vt:lpstr>
      <vt:lpstr>Arial</vt:lpstr>
      <vt:lpstr>Slate</vt:lpstr>
      <vt:lpstr>End-to-End Neural Network for Portfolio Optimization</vt:lpstr>
      <vt:lpstr>Overview</vt:lpstr>
      <vt:lpstr>Problem &amp; Objective</vt:lpstr>
      <vt:lpstr>Data &amp; Evaluation Metrics</vt:lpstr>
      <vt:lpstr>Models &amp; Approach</vt:lpstr>
      <vt:lpstr>Evaluation &amp; Insights</vt:lpstr>
      <vt:lpstr>Evaluation &amp;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Maqsood, Muhammad Zaid</cp:lastModifiedBy>
  <cp:revision>1</cp:revision>
  <dcterms:modified xsi:type="dcterms:W3CDTF">2026-05-11T17:18:44Z</dcterms:modified>
</cp:coreProperties>
</file>